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Medium" charset="1" panose="00000600000000000000"/>
      <p:regular r:id="rId15"/>
    </p:embeddedFont>
    <p:embeddedFont>
      <p:font typeface="Poppins Bold Italics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842969" y="7464609"/>
            <a:ext cx="10522904" cy="4801815"/>
            <a:chOff x="0" y="0"/>
            <a:chExt cx="14030539" cy="6402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96048" y="916020"/>
              <a:ext cx="9034491" cy="5486400"/>
            </a:xfrm>
            <a:custGeom>
              <a:avLst/>
              <a:gdLst/>
              <a:ahLst/>
              <a:cxnLst/>
              <a:rect r="r" b="b" t="t" l="l"/>
              <a:pathLst>
                <a:path h="5486400" w="9034491">
                  <a:moveTo>
                    <a:pt x="0" y="0"/>
                  </a:moveTo>
                  <a:lnTo>
                    <a:pt x="9034491" y="0"/>
                  </a:lnTo>
                  <a:lnTo>
                    <a:pt x="90344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34491" cy="5486400"/>
            </a:xfrm>
            <a:custGeom>
              <a:avLst/>
              <a:gdLst/>
              <a:ahLst/>
              <a:cxnLst/>
              <a:rect r="r" b="b" t="t" l="l"/>
              <a:pathLst>
                <a:path h="5486400" w="9034491">
                  <a:moveTo>
                    <a:pt x="0" y="0"/>
                  </a:moveTo>
                  <a:lnTo>
                    <a:pt x="9034491" y="0"/>
                  </a:lnTo>
                  <a:lnTo>
                    <a:pt x="90344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160315"/>
            <a:ext cx="18939059" cy="732414"/>
            <a:chOff x="0" y="0"/>
            <a:chExt cx="4988065" cy="1928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88065" cy="192899"/>
            </a:xfrm>
            <a:custGeom>
              <a:avLst/>
              <a:gdLst/>
              <a:ahLst/>
              <a:cxnLst/>
              <a:rect r="r" b="b" t="t" l="l"/>
              <a:pathLst>
                <a:path h="19289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192899"/>
                  </a:lnTo>
                  <a:lnTo>
                    <a:pt x="0" y="1928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4988065" cy="1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63774" y="-842039"/>
            <a:ext cx="10522904" cy="4801815"/>
            <a:chOff x="0" y="0"/>
            <a:chExt cx="14030539" cy="6402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996048" y="916020"/>
              <a:ext cx="9034491" cy="5486400"/>
            </a:xfrm>
            <a:custGeom>
              <a:avLst/>
              <a:gdLst/>
              <a:ahLst/>
              <a:cxnLst/>
              <a:rect r="r" b="b" t="t" l="l"/>
              <a:pathLst>
                <a:path h="5486400" w="9034491">
                  <a:moveTo>
                    <a:pt x="0" y="0"/>
                  </a:moveTo>
                  <a:lnTo>
                    <a:pt x="9034491" y="0"/>
                  </a:lnTo>
                  <a:lnTo>
                    <a:pt x="90344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34491" cy="5486400"/>
            </a:xfrm>
            <a:custGeom>
              <a:avLst/>
              <a:gdLst/>
              <a:ahLst/>
              <a:cxnLst/>
              <a:rect r="r" b="b" t="t" l="l"/>
              <a:pathLst>
                <a:path h="5486400" w="9034491">
                  <a:moveTo>
                    <a:pt x="0" y="0"/>
                  </a:moveTo>
                  <a:lnTo>
                    <a:pt x="9034491" y="0"/>
                  </a:lnTo>
                  <a:lnTo>
                    <a:pt x="90344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246058" y="1259935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6" y="0"/>
                </a:lnTo>
                <a:lnTo>
                  <a:pt x="2549516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325529" y="1169750"/>
            <a:ext cx="18939059" cy="1464829"/>
            <a:chOff x="0" y="0"/>
            <a:chExt cx="4988065" cy="385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8065" cy="385799"/>
            </a:xfrm>
            <a:custGeom>
              <a:avLst/>
              <a:gdLst/>
              <a:ahLst/>
              <a:cxnLst/>
              <a:rect r="r" b="b" t="t" l="l"/>
              <a:pathLst>
                <a:path h="38579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4988065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321975" y="666750"/>
            <a:ext cx="5327049" cy="6797859"/>
          </a:xfrm>
          <a:custGeom>
            <a:avLst/>
            <a:gdLst/>
            <a:ahLst/>
            <a:cxnLst/>
            <a:rect r="r" b="b" t="t" l="l"/>
            <a:pathLst>
              <a:path h="6797859" w="5327049">
                <a:moveTo>
                  <a:pt x="0" y="0"/>
                </a:moveTo>
                <a:lnTo>
                  <a:pt x="5327050" y="0"/>
                </a:lnTo>
                <a:lnTo>
                  <a:pt x="5327050" y="6797859"/>
                </a:lnTo>
                <a:lnTo>
                  <a:pt x="0" y="67978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56933" y="939067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18697" y="1581205"/>
            <a:ext cx="11141328" cy="3817049"/>
            <a:chOff x="0" y="0"/>
            <a:chExt cx="14855104" cy="5089399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23825"/>
              <a:ext cx="14855104" cy="4965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85"/>
                </a:lnSpc>
                <a:spcBef>
                  <a:spcPct val="0"/>
                </a:spcBef>
              </a:pPr>
              <a:r>
                <a:rPr lang="en-US" b="true" sz="6909">
                  <a:solidFill>
                    <a:srgbClr val="0630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Simulasi Sistem Perpustakaan Berbasis Prosedur menggunakan Pemrograman C++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8100"/>
              <a:ext cx="14855104" cy="1368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10"/>
                </a:lnSpc>
                <a:spcBef>
                  <a:spcPct val="0"/>
                </a:spcBef>
              </a:pPr>
              <a:r>
                <a:rPr lang="en-US" b="true" sz="693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Simulasi Sistem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5891176"/>
            <a:ext cx="9024272" cy="27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Oleh Kelompok 5: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Tahta Alfina Pagelaran (25104410040)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Dila Rahma Wakhida (25104410042)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Muhamad Naufal Afrizal (25104410049)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Mochamad Nazar Sirot (25104410051)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Bayu Putra Pratama (25104410075)</a:t>
            </a:r>
          </a:p>
          <a:p>
            <a:pPr algn="l" marL="550788" indent="-275394" lvl="1">
              <a:lnSpc>
                <a:spcPts val="3112"/>
              </a:lnSpc>
              <a:buAutoNum type="arabicPeriod" startAt="1"/>
            </a:pPr>
            <a:r>
              <a:rPr lang="en-US" sz="25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Adelia Wahyu Bima Sakti (25104410094)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697" y="9296400"/>
            <a:ext cx="9024272" cy="4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Algoritma dan Struktur Data - Sri Lestanti, S.Kom, M.T.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1050" y="2426699"/>
            <a:ext cx="5234549" cy="6160587"/>
          </a:xfrm>
          <a:custGeom>
            <a:avLst/>
            <a:gdLst/>
            <a:ahLst/>
            <a:cxnLst/>
            <a:rect r="r" b="b" t="t" l="l"/>
            <a:pathLst>
              <a:path h="6160587" w="5234549">
                <a:moveTo>
                  <a:pt x="0" y="0"/>
                </a:moveTo>
                <a:lnTo>
                  <a:pt x="5234549" y="0"/>
                </a:lnTo>
                <a:lnTo>
                  <a:pt x="5234549" y="6160586"/>
                </a:lnTo>
                <a:lnTo>
                  <a:pt x="0" y="6160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885508" y="2445749"/>
            <a:ext cx="14728021" cy="1464829"/>
            <a:chOff x="0" y="0"/>
            <a:chExt cx="19637362" cy="195310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9637362" cy="1953105"/>
              <a:chOff x="0" y="0"/>
              <a:chExt cx="3878985" cy="38579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78985" cy="385799"/>
              </a:xfrm>
              <a:custGeom>
                <a:avLst/>
                <a:gdLst/>
                <a:ahLst/>
                <a:cxnLst/>
                <a:rect r="r" b="b" t="t" l="l"/>
                <a:pathLst>
                  <a:path h="385799" w="3878985">
                    <a:moveTo>
                      <a:pt x="0" y="0"/>
                    </a:moveTo>
                    <a:lnTo>
                      <a:pt x="3878985" y="0"/>
                    </a:lnTo>
                    <a:lnTo>
                      <a:pt x="387898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28575"/>
                <a:ext cx="3878985" cy="3572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434396" y="384272"/>
              <a:ext cx="11389714" cy="1222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0"/>
                </a:lnSpc>
                <a:spcBef>
                  <a:spcPct val="0"/>
                </a:spcBef>
              </a:pPr>
              <a:r>
                <a:rPr lang="en-US" b="true" sz="6221">
                  <a:solidFill>
                    <a:srgbClr val="F0F7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Tujuan Program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44313" y="1028700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14197" y="4481770"/>
            <a:ext cx="9024272" cy="28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30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Membuat simulasi sistem di perpustakaan sederhana menggunakan pemrograman C++ berbasis prosedur yang dapat mengelola data anggota, peminjaman buku, dan pengembalian buku melalui menu program yang terstruktur. 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14158001" y="6463808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2189" y="-534606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85771" y="401061"/>
            <a:ext cx="19156036" cy="968671"/>
            <a:chOff x="0" y="0"/>
            <a:chExt cx="5045211" cy="255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5211" cy="255123"/>
            </a:xfrm>
            <a:custGeom>
              <a:avLst/>
              <a:gdLst/>
              <a:ahLst/>
              <a:cxnLst/>
              <a:rect r="r" b="b" t="t" l="l"/>
              <a:pathLst>
                <a:path h="255123" w="5045211">
                  <a:moveTo>
                    <a:pt x="0" y="0"/>
                  </a:moveTo>
                  <a:lnTo>
                    <a:pt x="5045211" y="0"/>
                  </a:lnTo>
                  <a:lnTo>
                    <a:pt x="5045211" y="255123"/>
                  </a:lnTo>
                  <a:lnTo>
                    <a:pt x="0" y="255123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5045211" cy="226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31125" y="4887050"/>
            <a:ext cx="6217418" cy="6922226"/>
          </a:xfrm>
          <a:custGeom>
            <a:avLst/>
            <a:gdLst/>
            <a:ahLst/>
            <a:cxnLst/>
            <a:rect r="r" b="b" t="t" l="l"/>
            <a:pathLst>
              <a:path h="6922226" w="6217418">
                <a:moveTo>
                  <a:pt x="0" y="0"/>
                </a:moveTo>
                <a:lnTo>
                  <a:pt x="6217418" y="0"/>
                </a:lnTo>
                <a:lnTo>
                  <a:pt x="6217418" y="6922227"/>
                </a:lnTo>
                <a:lnTo>
                  <a:pt x="0" y="692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1832" y="2477706"/>
            <a:ext cx="11020283" cy="1961669"/>
            <a:chOff x="0" y="0"/>
            <a:chExt cx="14693710" cy="2615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95824" y="606955"/>
              <a:ext cx="5845036" cy="2008604"/>
            </a:xfrm>
            <a:custGeom>
              <a:avLst/>
              <a:gdLst/>
              <a:ahLst/>
              <a:cxnLst/>
              <a:rect r="r" b="b" t="t" l="l"/>
              <a:pathLst>
                <a:path h="2008604" w="5845036">
                  <a:moveTo>
                    <a:pt x="0" y="0"/>
                  </a:moveTo>
                  <a:lnTo>
                    <a:pt x="5845036" y="0"/>
                  </a:lnTo>
                  <a:lnTo>
                    <a:pt x="5845036" y="2008603"/>
                  </a:lnTo>
                  <a:lnTo>
                    <a:pt x="0" y="200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14693710" cy="55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788" indent="-275394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551">
                  <a:solidFill>
                    <a:srgbClr val="06305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Prosedur (Function</a:t>
              </a:r>
              <a:r>
                <a:rPr lang="en-US" b="true" sz="2551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 void</a:t>
              </a:r>
              <a:r>
                <a:rPr lang="en-US" sz="25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1832" y="4687025"/>
            <a:ext cx="11020283" cy="1957167"/>
            <a:chOff x="0" y="0"/>
            <a:chExt cx="14693710" cy="2609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95824" y="616437"/>
              <a:ext cx="6357795" cy="1993118"/>
            </a:xfrm>
            <a:custGeom>
              <a:avLst/>
              <a:gdLst/>
              <a:ahLst/>
              <a:cxnLst/>
              <a:rect r="r" b="b" t="t" l="l"/>
              <a:pathLst>
                <a:path h="1993118" w="6357795">
                  <a:moveTo>
                    <a:pt x="0" y="0"/>
                  </a:moveTo>
                  <a:lnTo>
                    <a:pt x="6357795" y="0"/>
                  </a:lnTo>
                  <a:lnTo>
                    <a:pt x="6357795" y="1993119"/>
                  </a:lnTo>
                  <a:lnTo>
                    <a:pt x="0" y="1993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14693710" cy="55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788" indent="-275394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551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Array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31832" y="1810324"/>
            <a:ext cx="11020283" cy="4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Program ini menggunakan beberapa konsep C++: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37433" y="496240"/>
            <a:ext cx="11110545" cy="74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2"/>
              </a:lnSpc>
              <a:spcBef>
                <a:spcPct val="0"/>
              </a:spcBef>
            </a:pPr>
            <a:r>
              <a:rPr lang="en-US" b="true" sz="50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Konsep Pemrograman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63432" y="2477706"/>
            <a:ext cx="11020283" cy="6248612"/>
            <a:chOff x="0" y="0"/>
            <a:chExt cx="14693710" cy="83314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99219" y="651760"/>
              <a:ext cx="9630129" cy="7679723"/>
            </a:xfrm>
            <a:custGeom>
              <a:avLst/>
              <a:gdLst/>
              <a:ahLst/>
              <a:cxnLst/>
              <a:rect r="r" b="b" t="t" l="l"/>
              <a:pathLst>
                <a:path h="7679723" w="9630129">
                  <a:moveTo>
                    <a:pt x="0" y="0"/>
                  </a:moveTo>
                  <a:lnTo>
                    <a:pt x="9630129" y="0"/>
                  </a:lnTo>
                  <a:lnTo>
                    <a:pt x="9630129" y="7679723"/>
                  </a:lnTo>
                  <a:lnTo>
                    <a:pt x="0" y="767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14693710" cy="55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788" indent="-275394" lvl="1">
                <a:lnSpc>
                  <a:spcPts val="3112"/>
                </a:lnSpc>
                <a:buFont typeface="Arial"/>
                <a:buChar char="•"/>
              </a:pPr>
              <a:r>
                <a:rPr lang="en-US" sz="25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Perulangan (</a:t>
              </a:r>
              <a:r>
                <a:rPr lang="en-US" b="true" sz="2551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do while</a:t>
              </a:r>
              <a:r>
                <a:rPr lang="en-US" sz="25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) &amp; Percabangan (</a:t>
              </a:r>
              <a:r>
                <a:rPr lang="en-US" b="true" sz="2551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switch</a:t>
              </a:r>
              <a:r>
                <a:rPr lang="en-US" sz="25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1832" y="6863267"/>
            <a:ext cx="11020283" cy="2828677"/>
            <a:chOff x="0" y="0"/>
            <a:chExt cx="14693710" cy="3771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95824" y="613660"/>
              <a:ext cx="7646309" cy="3157910"/>
            </a:xfrm>
            <a:custGeom>
              <a:avLst/>
              <a:gdLst/>
              <a:ahLst/>
              <a:cxnLst/>
              <a:rect r="r" b="b" t="t" l="l"/>
              <a:pathLst>
                <a:path h="3157910" w="7646309">
                  <a:moveTo>
                    <a:pt x="0" y="0"/>
                  </a:moveTo>
                  <a:lnTo>
                    <a:pt x="7646309" y="0"/>
                  </a:lnTo>
                  <a:lnTo>
                    <a:pt x="7646309" y="3157910"/>
                  </a:lnTo>
                  <a:lnTo>
                    <a:pt x="0" y="3157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14693710" cy="55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0788" indent="-275394" lvl="1">
                <a:lnSpc>
                  <a:spcPts val="3112"/>
                </a:lnSpc>
                <a:buFont typeface="Arial"/>
                <a:buChar char="•"/>
              </a:pPr>
              <a:r>
                <a:rPr lang="en-US" sz="25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Input &amp; Output</a:t>
              </a:r>
              <a:r>
                <a:rPr lang="en-US" b="true" sz="2551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 (cin, cout)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97500" y="588043"/>
            <a:ext cx="21311029" cy="840984"/>
            <a:chOff x="0" y="0"/>
            <a:chExt cx="28414706" cy="112131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8414706" cy="1121312"/>
              <a:chOff x="0" y="0"/>
              <a:chExt cx="5612781" cy="22149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612781" cy="221494"/>
              </a:xfrm>
              <a:custGeom>
                <a:avLst/>
                <a:gdLst/>
                <a:ahLst/>
                <a:cxnLst/>
                <a:rect r="r" b="b" t="t" l="l"/>
                <a:pathLst>
                  <a:path h="221494" w="5612781">
                    <a:moveTo>
                      <a:pt x="0" y="0"/>
                    </a:moveTo>
                    <a:lnTo>
                      <a:pt x="5612781" y="0"/>
                    </a:lnTo>
                    <a:lnTo>
                      <a:pt x="5612781" y="221494"/>
                    </a:lnTo>
                    <a:lnTo>
                      <a:pt x="0" y="221494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28575"/>
                <a:ext cx="5612781" cy="1929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3588118" y="90760"/>
              <a:ext cx="13427312" cy="968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18"/>
                </a:lnSpc>
                <a:spcBef>
                  <a:spcPct val="0"/>
                </a:spcBef>
              </a:pPr>
              <a:r>
                <a:rPr lang="en-US" b="true" sz="4921">
                  <a:solidFill>
                    <a:srgbClr val="F0F7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Struktur Data Program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697500" y="5242261"/>
            <a:ext cx="21311029" cy="840984"/>
            <a:chOff x="0" y="0"/>
            <a:chExt cx="28414706" cy="112131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8414706" cy="1121312"/>
              <a:chOff x="0" y="0"/>
              <a:chExt cx="5612781" cy="22149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12781" cy="221494"/>
              </a:xfrm>
              <a:custGeom>
                <a:avLst/>
                <a:gdLst/>
                <a:ahLst/>
                <a:cxnLst/>
                <a:rect r="r" b="b" t="t" l="l"/>
                <a:pathLst>
                  <a:path h="221494" w="5612781">
                    <a:moveTo>
                      <a:pt x="0" y="0"/>
                    </a:moveTo>
                    <a:lnTo>
                      <a:pt x="5612781" y="0"/>
                    </a:lnTo>
                    <a:lnTo>
                      <a:pt x="5612781" y="221494"/>
                    </a:lnTo>
                    <a:lnTo>
                      <a:pt x="0" y="221494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5612781" cy="1929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3588118" y="90760"/>
              <a:ext cx="13427312" cy="968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18"/>
                </a:lnSpc>
                <a:spcBef>
                  <a:spcPct val="0"/>
                </a:spcBef>
              </a:pPr>
              <a:r>
                <a:rPr lang="en-US" b="true" sz="4921">
                  <a:solidFill>
                    <a:srgbClr val="F0F7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Struktur Menu Program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930524" y="3650713"/>
            <a:ext cx="3918447" cy="4024079"/>
          </a:xfrm>
          <a:custGeom>
            <a:avLst/>
            <a:gdLst/>
            <a:ahLst/>
            <a:cxnLst/>
            <a:rect r="r" b="b" t="t" l="l"/>
            <a:pathLst>
              <a:path h="4024079" w="3918447">
                <a:moveTo>
                  <a:pt x="0" y="0"/>
                </a:moveTo>
                <a:lnTo>
                  <a:pt x="3918448" y="0"/>
                </a:lnTo>
                <a:lnTo>
                  <a:pt x="3918448" y="4024080"/>
                </a:lnTo>
                <a:lnTo>
                  <a:pt x="0" y="402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745271" y="2068402"/>
            <a:ext cx="5899948" cy="2534485"/>
          </a:xfrm>
          <a:custGeom>
            <a:avLst/>
            <a:gdLst/>
            <a:ahLst/>
            <a:cxnLst/>
            <a:rect r="r" b="b" t="t" l="l"/>
            <a:pathLst>
              <a:path h="2534485" w="5899948">
                <a:moveTo>
                  <a:pt x="0" y="0"/>
                </a:moveTo>
                <a:lnTo>
                  <a:pt x="5899948" y="0"/>
                </a:lnTo>
                <a:lnTo>
                  <a:pt x="5899948" y="2534485"/>
                </a:lnTo>
                <a:lnTo>
                  <a:pt x="0" y="2534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35163" y="6540445"/>
            <a:ext cx="7134269" cy="3035859"/>
          </a:xfrm>
          <a:custGeom>
            <a:avLst/>
            <a:gdLst/>
            <a:ahLst/>
            <a:cxnLst/>
            <a:rect r="r" b="b" t="t" l="l"/>
            <a:pathLst>
              <a:path h="3035859" w="7134269">
                <a:moveTo>
                  <a:pt x="0" y="0"/>
                </a:moveTo>
                <a:lnTo>
                  <a:pt x="7134269" y="0"/>
                </a:lnTo>
                <a:lnTo>
                  <a:pt x="7134269" y="3035859"/>
                </a:lnTo>
                <a:lnTo>
                  <a:pt x="0" y="3035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32383" y="2462838"/>
            <a:ext cx="7445050" cy="170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7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l" marL="593967" indent="-296983" lvl="1">
              <a:lnSpc>
                <a:spcPts val="3356"/>
              </a:lnSpc>
              <a:buFont typeface="Arial"/>
              <a:buChar char="•"/>
            </a:pPr>
            <a:r>
              <a:rPr lang="en-US" sz="27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Menyimpan data anggota</a:t>
            </a:r>
          </a:p>
          <a:p>
            <a:pPr algn="l" marL="593967" indent="-296983" lvl="1">
              <a:lnSpc>
                <a:spcPts val="3356"/>
              </a:lnSpc>
              <a:buFont typeface="Arial"/>
              <a:buChar char="•"/>
            </a:pPr>
            <a:r>
              <a:rPr lang="en-US" sz="27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Menyimpan data buku yang dipinjam</a:t>
            </a:r>
          </a:p>
          <a:p>
            <a:pPr algn="l" marL="593967" indent="-296983" lvl="1">
              <a:lnSpc>
                <a:spcPts val="3356"/>
              </a:lnSpc>
              <a:buFont typeface="Arial"/>
              <a:buChar char="•"/>
            </a:pPr>
            <a:r>
              <a:rPr lang="en-US" sz="27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Menyimpan lama peminjaman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551714"/>
            <a:ext cx="6620195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Variabel yang digunakan dalam program: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8548" y="7525940"/>
            <a:ext cx="5020075" cy="75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Program berjalan menggunakan perulangan do-while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02962" y="174999"/>
            <a:ext cx="21311029" cy="959019"/>
            <a:chOff x="0" y="0"/>
            <a:chExt cx="5612781" cy="252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2781" cy="252581"/>
            </a:xfrm>
            <a:custGeom>
              <a:avLst/>
              <a:gdLst/>
              <a:ahLst/>
              <a:cxnLst/>
              <a:rect r="r" b="b" t="t" l="l"/>
              <a:pathLst>
                <a:path h="252581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252581"/>
                  </a:lnTo>
                  <a:lnTo>
                    <a:pt x="0" y="252581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612781" cy="224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93694" y="1667988"/>
            <a:ext cx="7240076" cy="3607564"/>
            <a:chOff x="0" y="0"/>
            <a:chExt cx="9653435" cy="48100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821160" y="3616544"/>
              <a:ext cx="8832275" cy="1193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digunakan untuk menambahkan nama anggota, memberikan ID anggota otomatis, dan menyimpan data ke dalam array.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21160" y="-38100"/>
              <a:ext cx="4524389" cy="995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381" b="true">
                  <a:solidFill>
                    <a:srgbClr val="0630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Prosedur Tambah Anggota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0" y="240525"/>
              <a:ext cx="584891" cy="476086"/>
              <a:chOff x="0" y="0"/>
              <a:chExt cx="115534" cy="9404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5534" cy="94042"/>
              </a:xfrm>
              <a:custGeom>
                <a:avLst/>
                <a:gdLst/>
                <a:ahLst/>
                <a:cxnLst/>
                <a:rect r="r" b="b" t="t" l="l"/>
                <a:pathLst>
                  <a:path h="94042" w="115534">
                    <a:moveTo>
                      <a:pt x="0" y="0"/>
                    </a:moveTo>
                    <a:lnTo>
                      <a:pt x="115534" y="0"/>
                    </a:lnTo>
                    <a:lnTo>
                      <a:pt x="115534" y="94042"/>
                    </a:lnTo>
                    <a:lnTo>
                      <a:pt x="0" y="94042"/>
                    </a:lnTo>
                    <a:close/>
                  </a:path>
                </a:pathLst>
              </a:custGeom>
              <a:solidFill>
                <a:srgbClr val="4F9FF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28575"/>
                <a:ext cx="115534" cy="654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821160" y="1147636"/>
              <a:ext cx="8316567" cy="2310157"/>
            </a:xfrm>
            <a:custGeom>
              <a:avLst/>
              <a:gdLst/>
              <a:ahLst/>
              <a:cxnLst/>
              <a:rect r="r" b="b" t="t" l="l"/>
              <a:pathLst>
                <a:path h="2310157" w="8316567">
                  <a:moveTo>
                    <a:pt x="0" y="0"/>
                  </a:moveTo>
                  <a:lnTo>
                    <a:pt x="8316566" y="0"/>
                  </a:lnTo>
                  <a:lnTo>
                    <a:pt x="8316566" y="2310158"/>
                  </a:lnTo>
                  <a:lnTo>
                    <a:pt x="0" y="2310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3694" y="5537012"/>
            <a:ext cx="7472289" cy="4521097"/>
            <a:chOff x="0" y="0"/>
            <a:chExt cx="9963052" cy="602812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821160" y="4834587"/>
              <a:ext cx="9141893" cy="1193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dengan memasukkan ID anggota, memasukkan judul buku, dan menentukan lama pinjam. Kemudian akan disimpan ke dalam array </a:t>
              </a:r>
              <a:r>
                <a:rPr lang="en-US" b="true" sz="1951" i="true">
                  <a:solidFill>
                    <a:srgbClr val="06305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buku </a:t>
              </a: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dan </a:t>
              </a:r>
              <a:r>
                <a:rPr lang="en-US" b="true" sz="1951" i="true">
                  <a:solidFill>
                    <a:srgbClr val="06305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lamaPinjam</a:t>
              </a: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21160" y="-38100"/>
              <a:ext cx="4524389" cy="995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381" b="true">
                  <a:solidFill>
                    <a:srgbClr val="0630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Prosedur Pinjam Buku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240525"/>
              <a:ext cx="584891" cy="476086"/>
              <a:chOff x="0" y="0"/>
              <a:chExt cx="115534" cy="9404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5534" cy="94042"/>
              </a:xfrm>
              <a:custGeom>
                <a:avLst/>
                <a:gdLst/>
                <a:ahLst/>
                <a:cxnLst/>
                <a:rect r="r" b="b" t="t" l="l"/>
                <a:pathLst>
                  <a:path h="94042" w="115534">
                    <a:moveTo>
                      <a:pt x="0" y="0"/>
                    </a:moveTo>
                    <a:lnTo>
                      <a:pt x="115534" y="0"/>
                    </a:lnTo>
                    <a:lnTo>
                      <a:pt x="115534" y="94042"/>
                    </a:lnTo>
                    <a:lnTo>
                      <a:pt x="0" y="94042"/>
                    </a:lnTo>
                    <a:close/>
                  </a:path>
                </a:pathLst>
              </a:custGeom>
              <a:solidFill>
                <a:srgbClr val="4F9FF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15534" cy="654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821160" y="995236"/>
              <a:ext cx="6775770" cy="3718926"/>
            </a:xfrm>
            <a:custGeom>
              <a:avLst/>
              <a:gdLst/>
              <a:ahLst/>
              <a:cxnLst/>
              <a:rect r="r" b="b" t="t" l="l"/>
              <a:pathLst>
                <a:path h="3718926" w="6775770">
                  <a:moveTo>
                    <a:pt x="0" y="0"/>
                  </a:moveTo>
                  <a:lnTo>
                    <a:pt x="6775769" y="0"/>
                  </a:lnTo>
                  <a:lnTo>
                    <a:pt x="6775769" y="3718926"/>
                  </a:lnTo>
                  <a:lnTo>
                    <a:pt x="0" y="371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0" y="1197786"/>
            <a:ext cx="8029601" cy="4495132"/>
            <a:chOff x="0" y="0"/>
            <a:chExt cx="10706135" cy="5993509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821160" y="5193667"/>
              <a:ext cx="9884975" cy="79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dengan memasukkan ID anggota akan menghapus data buku yang dipinjam dan mengubah status anggota.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21160" y="-38100"/>
              <a:ext cx="4524389" cy="995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381" b="true">
                  <a:solidFill>
                    <a:srgbClr val="0630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Prosedur Kembalikan Buku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240525"/>
              <a:ext cx="584891" cy="476086"/>
              <a:chOff x="0" y="0"/>
              <a:chExt cx="115534" cy="9404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5534" cy="94042"/>
              </a:xfrm>
              <a:custGeom>
                <a:avLst/>
                <a:gdLst/>
                <a:ahLst/>
                <a:cxnLst/>
                <a:rect r="r" b="b" t="t" l="l"/>
                <a:pathLst>
                  <a:path h="94042" w="115534">
                    <a:moveTo>
                      <a:pt x="0" y="0"/>
                    </a:moveTo>
                    <a:lnTo>
                      <a:pt x="115534" y="0"/>
                    </a:lnTo>
                    <a:lnTo>
                      <a:pt x="115534" y="94042"/>
                    </a:lnTo>
                    <a:lnTo>
                      <a:pt x="0" y="94042"/>
                    </a:lnTo>
                    <a:close/>
                  </a:path>
                </a:pathLst>
              </a:custGeom>
              <a:solidFill>
                <a:srgbClr val="4F9FF5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28575"/>
                <a:ext cx="115534" cy="654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821160" y="989617"/>
              <a:ext cx="6563011" cy="4080691"/>
            </a:xfrm>
            <a:custGeom>
              <a:avLst/>
              <a:gdLst/>
              <a:ahLst/>
              <a:cxnLst/>
              <a:rect r="r" b="b" t="t" l="l"/>
              <a:pathLst>
                <a:path h="4080691" w="6563011">
                  <a:moveTo>
                    <a:pt x="0" y="0"/>
                  </a:moveTo>
                  <a:lnTo>
                    <a:pt x="6563010" y="0"/>
                  </a:lnTo>
                  <a:lnTo>
                    <a:pt x="6563010" y="4080691"/>
                  </a:lnTo>
                  <a:lnTo>
                    <a:pt x="0" y="4080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93694" y="285532"/>
            <a:ext cx="11671757" cy="74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  <a:spcBef>
                <a:spcPct val="0"/>
              </a:spcBef>
            </a:pPr>
            <a:r>
              <a:rPr lang="en-US" b="true" sz="5166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Penjelasan Prosedur Program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3694" y="1159686"/>
            <a:ext cx="6988334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Program menggunakan beberapa prosedur: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0" y="5795409"/>
            <a:ext cx="7240076" cy="4262700"/>
            <a:chOff x="0" y="0"/>
            <a:chExt cx="9653435" cy="5683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84891" cy="476086"/>
              <a:chOff x="0" y="0"/>
              <a:chExt cx="115534" cy="9404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5534" cy="94042"/>
              </a:xfrm>
              <a:custGeom>
                <a:avLst/>
                <a:gdLst/>
                <a:ahLst/>
                <a:cxnLst/>
                <a:rect r="r" b="b" t="t" l="l"/>
                <a:pathLst>
                  <a:path h="94042" w="115534">
                    <a:moveTo>
                      <a:pt x="0" y="0"/>
                    </a:moveTo>
                    <a:lnTo>
                      <a:pt x="115534" y="0"/>
                    </a:lnTo>
                    <a:lnTo>
                      <a:pt x="115534" y="94042"/>
                    </a:lnTo>
                    <a:lnTo>
                      <a:pt x="0" y="94042"/>
                    </a:lnTo>
                    <a:close/>
                  </a:path>
                </a:pathLst>
              </a:custGeom>
              <a:solidFill>
                <a:srgbClr val="4F9FF5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28575"/>
                <a:ext cx="115534" cy="654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821160" y="588836"/>
              <a:ext cx="7133128" cy="4194157"/>
            </a:xfrm>
            <a:custGeom>
              <a:avLst/>
              <a:gdLst/>
              <a:ahLst/>
              <a:cxnLst/>
              <a:rect r="r" b="b" t="t" l="l"/>
              <a:pathLst>
                <a:path h="4194157" w="7133128">
                  <a:moveTo>
                    <a:pt x="0" y="0"/>
                  </a:moveTo>
                  <a:lnTo>
                    <a:pt x="7133127" y="0"/>
                  </a:lnTo>
                  <a:lnTo>
                    <a:pt x="7133127" y="4194157"/>
                  </a:lnTo>
                  <a:lnTo>
                    <a:pt x="0" y="41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821160" y="4883758"/>
              <a:ext cx="8832275" cy="79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951">
                  <a:solidFill>
                    <a:srgbClr val="063050"/>
                  </a:solidFill>
                  <a:latin typeface="Poppins"/>
                  <a:ea typeface="Poppins"/>
                  <a:cs typeface="Poppins"/>
                  <a:sym typeface="Poppins"/>
                </a:rPr>
                <a:t>digunakan untuk menampilkan seluruh data anggota yang telah tersimpan dalam program.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821160" y="-25400"/>
              <a:ext cx="4524389" cy="512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381" b="true">
                  <a:solidFill>
                    <a:srgbClr val="0630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Prosedur Tampil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84428" y="296286"/>
            <a:ext cx="21311029" cy="884296"/>
            <a:chOff x="0" y="0"/>
            <a:chExt cx="5612781" cy="2329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2781" cy="232901"/>
            </a:xfrm>
            <a:custGeom>
              <a:avLst/>
              <a:gdLst/>
              <a:ahLst/>
              <a:cxnLst/>
              <a:rect r="r" b="b" t="t" l="l"/>
              <a:pathLst>
                <a:path h="232901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232901"/>
                  </a:lnTo>
                  <a:lnTo>
                    <a:pt x="0" y="232901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612781" cy="204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12252" y="-197897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13111" y="8073403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1031" y="1558435"/>
            <a:ext cx="4140185" cy="8321979"/>
          </a:xfrm>
          <a:custGeom>
            <a:avLst/>
            <a:gdLst/>
            <a:ahLst/>
            <a:cxnLst/>
            <a:rect r="r" b="b" t="t" l="l"/>
            <a:pathLst>
              <a:path h="8321979" w="4140185">
                <a:moveTo>
                  <a:pt x="0" y="0"/>
                </a:moveTo>
                <a:lnTo>
                  <a:pt x="4140185" y="0"/>
                </a:lnTo>
                <a:lnTo>
                  <a:pt x="4140185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82742" y="1473081"/>
            <a:ext cx="3938483" cy="8492686"/>
          </a:xfrm>
          <a:custGeom>
            <a:avLst/>
            <a:gdLst/>
            <a:ahLst/>
            <a:cxnLst/>
            <a:rect r="r" b="b" t="t" l="l"/>
            <a:pathLst>
              <a:path h="8492686" w="3938483">
                <a:moveTo>
                  <a:pt x="0" y="0"/>
                </a:moveTo>
                <a:lnTo>
                  <a:pt x="3938483" y="0"/>
                </a:lnTo>
                <a:lnTo>
                  <a:pt x="3938483" y="8492686"/>
                </a:lnTo>
                <a:lnTo>
                  <a:pt x="0" y="8492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82766" y="1410947"/>
            <a:ext cx="4028426" cy="8616954"/>
          </a:xfrm>
          <a:custGeom>
            <a:avLst/>
            <a:gdLst/>
            <a:ahLst/>
            <a:cxnLst/>
            <a:rect r="r" b="b" t="t" l="l"/>
            <a:pathLst>
              <a:path h="8616954" w="4028426">
                <a:moveTo>
                  <a:pt x="0" y="0"/>
                </a:moveTo>
                <a:lnTo>
                  <a:pt x="4028426" y="0"/>
                </a:lnTo>
                <a:lnTo>
                  <a:pt x="4028426" y="8616954"/>
                </a:lnTo>
                <a:lnTo>
                  <a:pt x="0" y="8616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0592" y="426140"/>
            <a:ext cx="7331841" cy="66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b="true" sz="4610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Program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5529" y="3404967"/>
            <a:ext cx="18939059" cy="1464829"/>
            <a:chOff x="0" y="0"/>
            <a:chExt cx="4988065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065" cy="385799"/>
            </a:xfrm>
            <a:custGeom>
              <a:avLst/>
              <a:gdLst/>
              <a:ahLst/>
              <a:cxnLst/>
              <a:rect r="r" b="b" t="t" l="l"/>
              <a:pathLst>
                <a:path h="38579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988065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26993" y="413738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588548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43611" y="3404967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60616" y="3511872"/>
            <a:ext cx="8449147" cy="137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4"/>
              </a:lnSpc>
              <a:spcBef>
                <a:spcPct val="0"/>
              </a:spcBef>
            </a:pPr>
            <a:r>
              <a:rPr lang="en-US" b="true" sz="935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DAHDRXg35L4</dc:identifier>
  <dcterms:modified xsi:type="dcterms:W3CDTF">2011-08-01T06:04:30Z</dcterms:modified>
  <cp:revision>1</cp:revision>
  <dc:title>ASD Kel. 5 Sistem Perpustakaan</dc:title>
</cp:coreProperties>
</file>